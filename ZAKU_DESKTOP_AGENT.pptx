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0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115568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402336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7360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50592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63824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77056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0288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16752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9984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43216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82912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96144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09376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722608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435840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149072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862304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575536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2011680"/>
            <a:ext cx="6400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181D11"/>
                </a:solidFill>
                <a:latin typeface="Arial Black"/>
              </a:rPr>
              <a:t>MS-06F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868680"/>
            <a:ext cx="10515600" cy="4983480"/>
          </a:xfrm>
          <a:prstGeom prst="rect">
            <a:avLst/>
          </a:prstGeom>
          <a:solidFill>
            <a:srgbClr val="161910"/>
          </a:solidFill>
          <a:ln w="31750">
            <a:solidFill>
              <a:srgbClr val="4B5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868680"/>
            <a:ext cx="10515600" cy="9144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760720"/>
            <a:ext cx="10515600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8308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859768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946636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8308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859768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946636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05840"/>
                </a:solidFill>
                <a:latin typeface="Courier New"/>
              </a:rPr>
              <a:t>X:0000  Y:0000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2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05840"/>
                </a:solidFill>
                <a:latin typeface="Courier New"/>
              </a:rPr>
              <a:t>X:1333  Y:0750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78992" y="1005840"/>
            <a:ext cx="2377440" cy="256032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70432" y="10439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E8E0"/>
                </a:solidFill>
                <a:latin typeface="Courier New"/>
              </a:rPr>
              <a:t>MS-06F  ZAKU II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14232" y="1005840"/>
            <a:ext cx="2286000" cy="256032"/>
          </a:xfrm>
          <a:prstGeom prst="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05672" y="10439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50804"/>
                </a:solidFill>
                <a:latin typeface="Courier New"/>
              </a:rPr>
              <a:t>STATUS: ACTIVE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1444752"/>
            <a:ext cx="82296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E8E8E0"/>
                </a:solidFill>
                <a:latin typeface="Arial Black"/>
              </a:rPr>
              <a:t>ZAKU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3246120"/>
            <a:ext cx="8686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5500"/>
                </a:solidFill>
                <a:latin typeface="Arial Black"/>
              </a:rPr>
              <a:t>DESKTOP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4224528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9880"/>
                </a:solidFill>
                <a:latin typeface="Courier New"/>
              </a:rPr>
              <a:t>你的 AI 桌面机甲伙伴  ·  ELECTRON  ·  THREE.JS  ·  AI MULTI-PROVIDER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7112" y="4224528"/>
            <a:ext cx="3017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E7A30"/>
                </a:solidFill>
                <a:latin typeface="Courier New"/>
              </a:rPr>
              <a:t>v1.0  BUILD 2024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58400" y="2377440"/>
            <a:ext cx="54864" cy="1371600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18320" y="3035808"/>
            <a:ext cx="1371600" cy="54864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15600" y="2194560"/>
            <a:ext cx="502920" cy="1905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18320" y="2194560"/>
            <a:ext cx="502920" cy="1905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18320" y="20299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E7A30"/>
                </a:solidFill>
                <a:latin typeface="Courier New"/>
              </a:rPr>
              <a:t>TARGET LOCK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01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437376"/>
            <a:ext cx="12188952" cy="1905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519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5840"/>
                </a:solidFill>
                <a:latin typeface="Courier New"/>
              </a:rPr>
              <a:t>ZAKU DESKTOP AGENT  //  PRODUCT OVERVIEW  //  CONFIDENTIAL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17352" y="6437376"/>
            <a:ext cx="1371600" cy="420624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908792" y="65105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E7A30"/>
                </a:solidFill>
                <a:latin typeface="Courier New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8308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59768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46636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8308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59768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46636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05840"/>
                </a:solidFill>
                <a:latin typeface="Courier New"/>
              </a:rPr>
              <a:t>X:0000  Y:0000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8712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05840"/>
                </a:solidFill>
                <a:latin typeface="Courier New"/>
              </a:rPr>
              <a:t>X:1333  Y:0750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09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8E0"/>
                </a:solidFill>
                <a:latin typeface="Courier New"/>
              </a:rPr>
              <a:t>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E0"/>
                </a:solidFill>
                <a:latin typeface="Arial Black"/>
              </a:rPr>
              <a:t>项目概述  PROJECT OVERVIEW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143000"/>
            <a:ext cx="5440680" cy="5166360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143000"/>
            <a:ext cx="5440680" cy="64008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1143000"/>
            <a:ext cx="54864" cy="516636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125272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500"/>
                </a:solidFill>
                <a:latin typeface="Courier New"/>
              </a:rPr>
              <a:t>WHAT IS ZAKU DESKTOP AGENT?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664208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>
                <a:solidFill>
                  <a:srgbClr val="909880"/>
                </a:solidFill>
                <a:latin typeface="Courier New"/>
              </a:rPr>
              <a:t>Zaku Desktop Agent 是基于 Electron + Three.js
的桌面 AI 伴侣应用。以经典 SD 扎古 II 机甲
为形象，运行于 macOS 透明无边框悬浮窗口。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909880"/>
                </a:solidFill>
                <a:latin typeface="Courier New"/>
              </a:rPr>
              <a:t>机体常驻桌面角落，随时响应指令——
对话、提醒、文件扫描、自动化工作流，
一切尽在掌握。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909880"/>
                </a:solidFill>
                <a:latin typeface="Courier New"/>
              </a:rPr>
              <a:t>随着任务完成积累 XP，机体等级提升，
肩盾、机炮、速射炮、推进器……
武装配件逐级解锁，打造专属作战形态。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143000"/>
            <a:ext cx="5852160" cy="731520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1143000"/>
            <a:ext cx="64008" cy="73152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0488" y="119786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9880"/>
                </a:solidFill>
                <a:latin typeface="Courier New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149047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A30"/>
                </a:solidFill>
                <a:latin typeface="Courier New"/>
              </a:rPr>
              <a:t>macOS · Electron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965960"/>
            <a:ext cx="5852160" cy="731520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1965960"/>
            <a:ext cx="64008" cy="73152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202082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9880"/>
                </a:solidFill>
                <a:latin typeface="Courier New"/>
              </a:rPr>
              <a:t>RENDERER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231343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7A30"/>
                </a:solidFill>
                <a:latin typeface="Courier New"/>
              </a:rPr>
              <a:t>Three.js r158 · WebGL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788920"/>
            <a:ext cx="5852160" cy="731520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89320" y="2788920"/>
            <a:ext cx="64008" cy="731520"/>
          </a:xfrm>
          <a:prstGeom prst="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0488" y="28437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9880"/>
                </a:solidFill>
                <a:latin typeface="Courier New"/>
              </a:rPr>
              <a:t>AI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313639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C77"/>
                </a:solidFill>
                <a:latin typeface="Courier New"/>
              </a:rPr>
              <a:t>OpenAI / Claude / Gemini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3611880"/>
            <a:ext cx="5852160" cy="731520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3611880"/>
            <a:ext cx="64008" cy="73152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0488" y="366674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9880"/>
                </a:solidFill>
                <a:latin typeface="Courier New"/>
              </a:rPr>
              <a:t>WINDOW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0488" y="395935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8E0"/>
                </a:solidFill>
                <a:latin typeface="Courier New"/>
              </a:rPr>
              <a:t>180 × 200 px 透明悬浮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4434840"/>
            <a:ext cx="5852160" cy="731520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9320" y="4434840"/>
            <a:ext cx="64008" cy="73152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0488" y="448970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9880"/>
                </a:solidFill>
                <a:latin typeface="Courier New"/>
              </a:rPr>
              <a:t>XP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0488" y="478231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5500"/>
                </a:solidFill>
                <a:latin typeface="Courier New"/>
              </a:rPr>
              <a:t>Lv.1 → Lv.10  十级成长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5257800"/>
            <a:ext cx="5852160" cy="731520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89320" y="5257800"/>
            <a:ext cx="64008" cy="73152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0488" y="531266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9880"/>
                </a:solidFill>
                <a:latin typeface="Courier New"/>
              </a:rPr>
              <a:t>WEAPONS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0488" y="560527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5500"/>
                </a:solidFill>
                <a:latin typeface="Courier New"/>
              </a:rPr>
              <a:t>8 种武装配件逐级解锁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01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437376"/>
            <a:ext cx="12188952" cy="1905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19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5840"/>
                </a:solidFill>
                <a:latin typeface="Courier New"/>
              </a:rPr>
              <a:t>ZAKU DESKTOP AGENT  //  PROJECT OVERVIEW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817352" y="6437376"/>
            <a:ext cx="1371600" cy="420624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08792" y="65105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E7A30"/>
                </a:solidFill>
                <a:latin typeface="Courier New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8308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59768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46636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8308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59768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46636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05840"/>
                </a:solidFill>
                <a:latin typeface="Courier New"/>
              </a:rPr>
              <a:t>X:0000  Y:0000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8712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05840"/>
                </a:solidFill>
                <a:latin typeface="Courier New"/>
              </a:rPr>
              <a:t>X:1333  Y:0750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09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8E0"/>
                </a:solidFill>
                <a:latin typeface="Courier New"/>
              </a:rPr>
              <a:t>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E0"/>
                </a:solidFill>
                <a:latin typeface="Arial Black"/>
              </a:rPr>
              <a:t>核心功能模块  CORE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1097280"/>
            <a:ext cx="3794760" cy="2359152"/>
          </a:xfrm>
          <a:prstGeom prst="rect">
            <a:avLst/>
          </a:prstGeom>
          <a:solidFill>
            <a:srgbClr val="1E2216"/>
          </a:solidFill>
          <a:ln w="1524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" y="1097280"/>
            <a:ext cx="3794760" cy="6400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1097280"/>
            <a:ext cx="45720" cy="2359152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" y="1188720"/>
            <a:ext cx="347472" cy="237744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1188720"/>
            <a:ext cx="347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E8E0"/>
                </a:solidFill>
                <a:latin typeface="Courier New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117043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500"/>
                </a:solidFill>
                <a:latin typeface="Courier New"/>
              </a:rPr>
              <a:t>AI COMBAT BRIDGE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1444752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作战对话系统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" y="1691640"/>
            <a:ext cx="3593592" cy="10160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1764792"/>
            <a:ext cx="357530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支持 OpenAI / Claude / Gemini 多 Provider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多轮上下文完整记忆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机体心情随对话自然变化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沉浸式 HUD 机甲风格对话界面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097280"/>
            <a:ext cx="3794760" cy="2359152"/>
          </a:xfrm>
          <a:prstGeom prst="rect">
            <a:avLst/>
          </a:prstGeom>
          <a:solidFill>
            <a:srgbClr val="1E2216"/>
          </a:solidFill>
          <a:ln w="1524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1097280"/>
            <a:ext cx="3794760" cy="6400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1097280"/>
            <a:ext cx="45720" cy="2359152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07408" y="1188720"/>
            <a:ext cx="347472" cy="237744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7408" y="1188720"/>
            <a:ext cx="347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E8E0"/>
                </a:solidFill>
                <a:latin typeface="Courier New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117043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500"/>
                </a:solidFill>
                <a:latin typeface="Courier New"/>
              </a:rPr>
              <a:t>MISSION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1444752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任务指挥系统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7408" y="1691640"/>
            <a:ext cx="3593592" cy="10160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25696" y="1764792"/>
            <a:ext cx="357530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创建 / 编辑 / 完成提醒事项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多任务列表分类管理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完成任务获得 XP 积分奖励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默认展示全部待完成任务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57032" y="1097280"/>
            <a:ext cx="3794760" cy="2359152"/>
          </a:xfrm>
          <a:prstGeom prst="rect">
            <a:avLst/>
          </a:prstGeom>
          <a:solidFill>
            <a:srgbClr val="1E2216"/>
          </a:solidFill>
          <a:ln w="1524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57032" y="1097280"/>
            <a:ext cx="3794760" cy="6400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57032" y="1097280"/>
            <a:ext cx="45720" cy="2359152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6760" y="1188720"/>
            <a:ext cx="347472" cy="237744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1188720"/>
            <a:ext cx="347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E8E0"/>
                </a:solidFill>
                <a:latin typeface="Courier New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117043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500"/>
                </a:solidFill>
                <a:latin typeface="Courier New"/>
              </a:rPr>
              <a:t>FILE SCANNER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1444752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文件扫描引擎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1691640"/>
            <a:ext cx="3593592" cy="10160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5048" y="1764792"/>
            <a:ext cx="357530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扫描桌面大体积冗余文件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AI 智能分析并给出删除建议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一键 Reveal in Finder 定位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安全确认后执行删除操作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" y="3566160"/>
            <a:ext cx="3794760" cy="2359152"/>
          </a:xfrm>
          <a:prstGeom prst="rect">
            <a:avLst/>
          </a:prstGeom>
          <a:solidFill>
            <a:srgbClr val="1E2216"/>
          </a:solidFill>
          <a:ln w="1524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8328" y="3566160"/>
            <a:ext cx="3794760" cy="6400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8328" y="3566160"/>
            <a:ext cx="45720" cy="2359152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8056" y="3657600"/>
            <a:ext cx="347472" cy="237744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" y="3657600"/>
            <a:ext cx="347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E8E0"/>
                </a:solidFill>
                <a:latin typeface="Courier New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363931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500"/>
                </a:solidFill>
                <a:latin typeface="Courier New"/>
              </a:rPr>
              <a:t>WORKFLOW 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3913632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自动化引擎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" y="4160520"/>
            <a:ext cx="3593592" cy="10160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6344" y="4233672"/>
            <a:ext cx="357530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自定义 Prompt 工作流模板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一键触发 AI 批处理任务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支持保存 / 编辑 / 删除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结果实时流式回显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97680" y="3566160"/>
            <a:ext cx="3794760" cy="2359152"/>
          </a:xfrm>
          <a:prstGeom prst="rect">
            <a:avLst/>
          </a:prstGeom>
          <a:solidFill>
            <a:srgbClr val="1E2216"/>
          </a:solidFill>
          <a:ln w="1524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97680" y="3566160"/>
            <a:ext cx="3794760" cy="6400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97680" y="3566160"/>
            <a:ext cx="45720" cy="2359152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07408" y="3657600"/>
            <a:ext cx="347472" cy="237744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07408" y="3657600"/>
            <a:ext cx="347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E8E0"/>
                </a:solidFill>
                <a:latin typeface="Courier New"/>
              </a:rPr>
              <a:t>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64608" y="363931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500"/>
                </a:solidFill>
                <a:latin typeface="Courier New"/>
              </a:rPr>
              <a:t>PET CUSTOMIZATION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64608" y="3913632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机体定制系统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07408" y="4160520"/>
            <a:ext cx="3593592" cy="10160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25696" y="4233672"/>
            <a:ext cx="357530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自定义机体名称与人格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可更换头像 / 外观形象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多情绪状态动画表现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多 Provider API Key 管理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57032" y="3566160"/>
            <a:ext cx="3794760" cy="2359152"/>
          </a:xfrm>
          <a:prstGeom prst="rect">
            <a:avLst/>
          </a:prstGeom>
          <a:solidFill>
            <a:srgbClr val="1E2216"/>
          </a:solidFill>
          <a:ln w="1524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57032" y="3566160"/>
            <a:ext cx="3794760" cy="6400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57032" y="3566160"/>
            <a:ext cx="45720" cy="2359152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66760" y="3657600"/>
            <a:ext cx="347472" cy="237744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66760" y="3657600"/>
            <a:ext cx="347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E8E0"/>
                </a:solidFill>
                <a:latin typeface="Courier New"/>
              </a:rPr>
              <a:t>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23960" y="3639312"/>
            <a:ext cx="3136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500"/>
                </a:solidFill>
                <a:latin typeface="Courier New"/>
              </a:rPr>
              <a:t>GROWTH &amp; LEVEL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23960" y="3913632"/>
            <a:ext cx="3136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成长与升级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66760" y="4160520"/>
            <a:ext cx="3593592" cy="10160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85048" y="4233672"/>
            <a:ext cx="3575304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XP 驱动十级成长体系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情绪状态: 开心 / 兴奋 / 休眠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跳跃动画庆祝任务完成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09880"/>
                </a:solidFill>
                <a:latin typeface="Courier New"/>
              </a:rPr>
              <a:t>· 等级与状态跨会话持久化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01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6437376"/>
            <a:ext cx="12188952" cy="1905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6519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5840"/>
                </a:solidFill>
                <a:latin typeface="Courier New"/>
              </a:rPr>
              <a:t>ZAKU DESKTOP AGENT  //  CORE SYSTEMS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817352" y="6437376"/>
            <a:ext cx="1371600" cy="420624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908792" y="65105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E7A30"/>
                </a:solidFill>
                <a:latin typeface="Courier New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8308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59768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46636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8308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59768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46636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05840"/>
                </a:solidFill>
                <a:latin typeface="Courier New"/>
              </a:rPr>
              <a:t>X:0000  Y:0000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8712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05840"/>
                </a:solidFill>
                <a:latin typeface="Courier New"/>
              </a:rPr>
              <a:t>X:1333  Y:0750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09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0A07"/>
                </a:solidFill>
                <a:latin typeface="Courier New"/>
              </a:rPr>
              <a:t>AI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E0"/>
                </a:solidFill>
                <a:latin typeface="Arial Black"/>
              </a:rPr>
              <a:t>AI 作战指挥桥  COMBAT BRIDGE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115568"/>
            <a:ext cx="5303520" cy="5212080"/>
          </a:xfrm>
          <a:prstGeom prst="rect">
            <a:avLst/>
          </a:prstGeom>
          <a:solidFill>
            <a:srgbClr val="080A07"/>
          </a:solidFill>
          <a:ln w="25400">
            <a:solidFill>
              <a:srgbClr val="4B5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115568"/>
            <a:ext cx="5303520" cy="347472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1155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0A07"/>
                </a:solidFill>
                <a:latin typeface="Courier New"/>
              </a:rPr>
              <a:t>  COMBAT BRIDGE — TERMINAL v2.6  [CONN: ACTIVE]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65776" y="1188720"/>
            <a:ext cx="118872" cy="118872"/>
          </a:xfrm>
          <a:prstGeom prst="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64608" y="1188720"/>
            <a:ext cx="118872" cy="1188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1188720"/>
            <a:ext cx="118872" cy="118872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1463040"/>
            <a:ext cx="5303520" cy="1270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14813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C77"/>
                </a:solidFill>
                <a:latin typeface="Courier New"/>
              </a:rPr>
              <a:t>&gt; ENCRYPTED LINK ESTABLISHED  //  UNIT MS-06F ONLINE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1792224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8E0"/>
                </a:solidFill>
                <a:latin typeface="Courier New"/>
              </a:rPr>
              <a:t>USER  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" y="1792224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E0"/>
                </a:solidFill>
                <a:latin typeface="Courier New"/>
              </a:rPr>
              <a:t>帮我整理今天的任务清单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2121408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840"/>
                </a:solidFill>
                <a:latin typeface="Courier New"/>
              </a:rPr>
              <a:t>────────────────────────────────────────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2450592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500"/>
                </a:solidFill>
                <a:latin typeface="Courier New"/>
              </a:rPr>
              <a:t>ZAKU  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8176" y="245059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5500"/>
                </a:solidFill>
                <a:latin typeface="Courier New"/>
              </a:rPr>
              <a:t>收到，指挥官。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8176" y="277977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已检测到 3 项待完成任务：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8176" y="3108960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  [!!] 提交项目报告  — 今日截止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8176" y="3438144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  [ · ] 回复客户邮件 — 明日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3767328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  [ · ] 代码审查     — 本周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4096512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500"/>
                </a:solidFill>
                <a:latin typeface="Courier New"/>
              </a:rPr>
              <a:t>ZAKU  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8176" y="4096512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5500"/>
                </a:solidFill>
                <a:latin typeface="Courier New"/>
              </a:rPr>
              <a:t>建议优先处理报告。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8176" y="442569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5500"/>
                </a:solidFill>
                <a:latin typeface="Courier New"/>
              </a:rPr>
              <a:t>      需要我帮你起草摘要吗？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4754880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8E0"/>
                </a:solidFill>
                <a:latin typeface="Courier New"/>
              </a:rPr>
              <a:t>USER  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08176" y="4754880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8E0"/>
                </a:solidFill>
                <a:latin typeface="Courier New"/>
              </a:rPr>
              <a:t>好，帮我写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5084064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C77"/>
                </a:solidFill>
                <a:latin typeface="Courier New"/>
              </a:rPr>
              <a:t>ZAKU  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8176" y="5084064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C77"/>
                </a:solidFill>
                <a:latin typeface="Courier New"/>
              </a:rPr>
              <a:t>正在生成... ████████░░  80%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70448" y="1115568"/>
            <a:ext cx="5961888" cy="1152144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70448" y="1115568"/>
            <a:ext cx="73152" cy="1152144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1207008"/>
            <a:ext cx="256032" cy="219456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1207008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E8E0"/>
                </a:solidFill>
                <a:latin typeface="Courier New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11978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7A30"/>
                </a:solidFill>
                <a:latin typeface="Courier New"/>
              </a:rPr>
              <a:t>PROVIDER AGNOSTIC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1536192"/>
            <a:ext cx="5303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9880"/>
                </a:solidFill>
                <a:latin typeface="Courier New"/>
              </a:rPr>
              <a:t>OpenAI · Anthropic Claude · Google Gemini
随时热切换，无供应商锁定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70448" y="2395728"/>
            <a:ext cx="5961888" cy="1152144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70448" y="2395728"/>
            <a:ext cx="73152" cy="1152144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35040" y="2487168"/>
            <a:ext cx="256032" cy="219456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0" y="2487168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E8E0"/>
                </a:solidFill>
                <a:latin typeface="Courier New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24780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500"/>
                </a:solidFill>
                <a:latin typeface="Courier New"/>
              </a:rPr>
              <a:t>CONTEXT MEMORY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2816352"/>
            <a:ext cx="5303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9880"/>
                </a:solidFill>
                <a:latin typeface="Courier New"/>
              </a:rPr>
              <a:t>多轮对话完整上下文记忆
机体「记得」你上次说了什么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0448" y="3675888"/>
            <a:ext cx="5961888" cy="1152144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870448" y="3675888"/>
            <a:ext cx="73152" cy="1152144"/>
          </a:xfrm>
          <a:prstGeom prst="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35040" y="3767328"/>
            <a:ext cx="256032" cy="219456"/>
          </a:xfrm>
          <a:prstGeom prst="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35040" y="3767328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E8E0"/>
                </a:solidFill>
                <a:latin typeface="Courier New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7581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C77"/>
                </a:solidFill>
                <a:latin typeface="Courier New"/>
              </a:rPr>
              <a:t>MOOD REACTION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096512"/>
            <a:ext cx="5303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9880"/>
                </a:solidFill>
                <a:latin typeface="Courier New"/>
              </a:rPr>
              <a:t>AI 响应后机体表达情绪
跳跃动画 · 眼光扫描特效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70448" y="4956048"/>
            <a:ext cx="5961888" cy="1152144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70448" y="4956048"/>
            <a:ext cx="73152" cy="11521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35040" y="5047488"/>
            <a:ext cx="256032" cy="21945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0" y="5047488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80A07"/>
                </a:solidFill>
                <a:latin typeface="Courier New"/>
              </a:rPr>
              <a:t>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0383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Courier New"/>
              </a:rPr>
              <a:t>HUD INTERFACE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5376672"/>
            <a:ext cx="5303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9880"/>
                </a:solidFill>
                <a:latin typeface="Courier New"/>
              </a:rPr>
              <a:t>机甲风 HUD 对话面板
暗色主题 · 扫描线 · 绿光效果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01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6437376"/>
            <a:ext cx="12188952" cy="1905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6519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5840"/>
                </a:solidFill>
                <a:latin typeface="Courier New"/>
              </a:rPr>
              <a:t>ZAKU DESKTOP AGENT  //  AI COMBAT BRIDGE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817352" y="6437376"/>
            <a:ext cx="1371600" cy="420624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08792" y="65105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E7A30"/>
                </a:solidFill>
                <a:latin typeface="Courier New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8308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59768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46636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8308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59768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46636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05840"/>
                </a:solidFill>
                <a:latin typeface="Courier New"/>
              </a:rPr>
              <a:t>X:0000  Y:0000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8712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05840"/>
                </a:solidFill>
                <a:latin typeface="Courier New"/>
              </a:rPr>
              <a:t>X:1333  Y:0750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09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8E0"/>
                </a:solidFill>
                <a:latin typeface="Courier New"/>
              </a:rPr>
              <a:t>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E0"/>
                </a:solidFill>
                <a:latin typeface="Arial Black"/>
              </a:rPr>
              <a:t>MISSION CONTROL — 任务指挥系统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188720"/>
            <a:ext cx="3657600" cy="2377440"/>
          </a:xfrm>
          <a:prstGeom prst="rect">
            <a:avLst/>
          </a:prstGeom>
          <a:solidFill>
            <a:srgbClr val="1E2216"/>
          </a:solidFill>
          <a:ln w="25400">
            <a:solidFill>
              <a:srgbClr val="4B5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1188720"/>
            <a:ext cx="3657600" cy="9144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" y="1335024"/>
            <a:ext cx="457200" cy="438912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E8E0"/>
                </a:solidFill>
                <a:latin typeface="Arial Black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7864" y="134416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B5320"/>
                </a:solidFill>
                <a:latin typeface="Arial Black"/>
              </a:rPr>
              <a:t>创建任务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883664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9880"/>
                </a:solidFill>
                <a:latin typeface="Courier New"/>
              </a:rPr>
              <a:t>输入任务文本
设定截止日期
分配到任务列表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A4020"/>
                </a:solidFill>
                <a:latin typeface="Courier New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5112" y="1188720"/>
            <a:ext cx="3657600" cy="2377440"/>
          </a:xfrm>
          <a:prstGeom prst="rect">
            <a:avLst/>
          </a:prstGeom>
          <a:solidFill>
            <a:srgbClr val="1E2216"/>
          </a:solidFill>
          <a:ln w="2540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5112" y="1188720"/>
            <a:ext cx="3657600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9704" y="1335024"/>
            <a:ext cx="457200" cy="438912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9704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E8E0"/>
                </a:solidFill>
                <a:latin typeface="Arial Black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496" y="134416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500"/>
                </a:solidFill>
                <a:latin typeface="Arial Black"/>
              </a:rPr>
              <a:t>执行追踪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1883664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9880"/>
                </a:solidFill>
                <a:latin typeface="Courier New"/>
              </a:rPr>
              <a:t>待完成视图优先
过滤切换全部/完成
实时状态同步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2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A4020"/>
                </a:solidFill>
                <a:latin typeface="Courier New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38744" y="1188720"/>
            <a:ext cx="3657600" cy="2377440"/>
          </a:xfrm>
          <a:prstGeom prst="rect">
            <a:avLst/>
          </a:prstGeom>
          <a:solidFill>
            <a:srgbClr val="1E2216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38744" y="1188720"/>
            <a:ext cx="365760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03336" y="1335024"/>
            <a:ext cx="457200" cy="4389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03336" y="1335024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A07"/>
                </a:solidFill>
                <a:latin typeface="Arial Black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134416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Arial Black"/>
              </a:rPr>
              <a:t>完成奖励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2" y="1883664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9880"/>
                </a:solidFill>
                <a:latin typeface="Courier New"/>
              </a:rPr>
              <a:t>标记完成获 XP
机体跳跃庆祝
状态持久化存储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767328"/>
            <a:ext cx="11356848" cy="2514600"/>
          </a:xfrm>
          <a:prstGeom prst="rect">
            <a:avLst/>
          </a:prstGeom>
          <a:solidFill>
            <a:srgbClr val="161910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3767328"/>
            <a:ext cx="11356848" cy="82296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8953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7A30"/>
                </a:solidFill>
                <a:latin typeface="Courier New"/>
              </a:rPr>
              <a:t>XP PROGRESSION MATRIX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895344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880"/>
                </a:solidFill>
                <a:latin typeface="Courier New"/>
              </a:rPr>
              <a:t>— 完成任务积累 XP，解锁机体武装配件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279392"/>
            <a:ext cx="1042415" cy="1755648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" y="4315968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E8E0"/>
                </a:solidFill>
                <a:latin typeface="Courier New"/>
              </a:rPr>
              <a:t>Lv.1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" y="4608576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9880"/>
                </a:solidFill>
                <a:latin typeface="Courier New"/>
              </a:rPr>
              <a:t>0 XP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82496" y="4279392"/>
            <a:ext cx="1042415" cy="1755648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19072" y="4315968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E8E0"/>
                </a:solidFill>
                <a:latin typeface="Courier New"/>
              </a:rPr>
              <a:t>Lv.2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19072" y="4608576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9880"/>
                </a:solidFill>
                <a:latin typeface="Courier New"/>
              </a:rPr>
              <a:t>100 XP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98064" y="4279392"/>
            <a:ext cx="1042415" cy="1755648"/>
          </a:xfrm>
          <a:prstGeom prst="rect">
            <a:avLst/>
          </a:prstGeom>
          <a:solidFill>
            <a:srgbClr val="1E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4315968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E7A30"/>
                </a:solidFill>
                <a:latin typeface="Courier New"/>
              </a:rPr>
              <a:t>Lv.3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4608576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9880"/>
                </a:solidFill>
                <a:latin typeface="Courier New"/>
              </a:rPr>
              <a:t>300 XP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98064" y="4882896"/>
            <a:ext cx="1060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7A30"/>
                </a:solidFill>
                <a:latin typeface="Courier New"/>
              </a:rPr>
              <a:t>尖刺肩盾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52928" y="5888736"/>
            <a:ext cx="950976" cy="128016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13632" y="4279392"/>
            <a:ext cx="1042415" cy="1755648"/>
          </a:xfrm>
          <a:prstGeom prst="rect">
            <a:avLst/>
          </a:prstGeom>
          <a:solidFill>
            <a:srgbClr val="1E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50208" y="4315968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E7A30"/>
                </a:solidFill>
                <a:latin typeface="Courier New"/>
              </a:rPr>
              <a:t>Lv.4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50208" y="4608576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9880"/>
                </a:solidFill>
                <a:latin typeface="Courier New"/>
              </a:rPr>
              <a:t>600 XP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4882896"/>
            <a:ext cx="1060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E7A30"/>
                </a:solidFill>
                <a:latin typeface="Courier New"/>
              </a:rPr>
              <a:t>120mm 肩炮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68496" y="5888736"/>
            <a:ext cx="950976" cy="128016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4279392"/>
            <a:ext cx="1042415" cy="1755648"/>
          </a:xfrm>
          <a:prstGeom prst="rect">
            <a:avLst/>
          </a:prstGeom>
          <a:solidFill>
            <a:srgbClr val="1E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65776" y="4315968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5500"/>
                </a:solidFill>
                <a:latin typeface="Courier New"/>
              </a:rPr>
              <a:t>Lv.5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65776" y="4608576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9880"/>
                </a:solidFill>
                <a:latin typeface="Courier New"/>
              </a:rPr>
              <a:t>1000 XP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4882896"/>
            <a:ext cx="1060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5500"/>
                </a:solidFill>
                <a:latin typeface="Courier New"/>
              </a:rPr>
              <a:t>MMP-80 速射炮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84064" y="5888736"/>
            <a:ext cx="950976" cy="128016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44768" y="4279392"/>
            <a:ext cx="1042415" cy="1755648"/>
          </a:xfrm>
          <a:prstGeom prst="rect">
            <a:avLst/>
          </a:prstGeom>
          <a:solidFill>
            <a:srgbClr val="1E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81344" y="4315968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5500"/>
                </a:solidFill>
                <a:latin typeface="Courier New"/>
              </a:rPr>
              <a:t>Lv.6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81344" y="4608576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9880"/>
                </a:solidFill>
                <a:latin typeface="Courier New"/>
              </a:rPr>
              <a:t>1500 XP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44768" y="4882896"/>
            <a:ext cx="1060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5500"/>
                </a:solidFill>
                <a:latin typeface="Courier New"/>
              </a:rPr>
              <a:t>后置推进舱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99632" y="5888736"/>
            <a:ext cx="950976" cy="128016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260336" y="4279392"/>
            <a:ext cx="1042415" cy="1755648"/>
          </a:xfrm>
          <a:prstGeom prst="rect">
            <a:avLst/>
          </a:prstGeom>
          <a:solidFill>
            <a:srgbClr val="1E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96912" y="4315968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5500"/>
                </a:solidFill>
                <a:latin typeface="Courier New"/>
              </a:rPr>
              <a:t>Lv.7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96912" y="4608576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9880"/>
                </a:solidFill>
                <a:latin typeface="Courier New"/>
              </a:rPr>
              <a:t>2200 XP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60336" y="4882896"/>
            <a:ext cx="1060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5500"/>
                </a:solidFill>
                <a:latin typeface="Courier New"/>
              </a:rPr>
              <a:t>飞行翼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0" y="5888736"/>
            <a:ext cx="950976" cy="128016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375904" y="4279392"/>
            <a:ext cx="1042415" cy="1755648"/>
          </a:xfrm>
          <a:prstGeom prst="rect">
            <a:avLst/>
          </a:prstGeom>
          <a:solidFill>
            <a:srgbClr val="1E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12480" y="4315968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ourier New"/>
              </a:rPr>
              <a:t>Lv.8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4608576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9880"/>
                </a:solidFill>
                <a:latin typeface="Courier New"/>
              </a:rPr>
              <a:t>3100 XP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75904" y="4882896"/>
            <a:ext cx="1060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Courier New"/>
              </a:rPr>
              <a:t>指挥官天线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30768" y="5888736"/>
            <a:ext cx="950976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91472" y="4279392"/>
            <a:ext cx="1042415" cy="1755648"/>
          </a:xfrm>
          <a:prstGeom prst="rect">
            <a:avLst/>
          </a:prstGeom>
          <a:solidFill>
            <a:srgbClr val="1E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28048" y="4315968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ourier New"/>
              </a:rPr>
              <a:t>Lv.9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28048" y="4608576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9880"/>
                </a:solidFill>
                <a:latin typeface="Courier New"/>
              </a:rPr>
              <a:t>4300 XP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91472" y="4882896"/>
            <a:ext cx="1060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D700"/>
                </a:solidFill>
                <a:latin typeface="Courier New"/>
              </a:rPr>
              <a:t>全装甲胸板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546336" y="5888736"/>
            <a:ext cx="950976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607040" y="4279392"/>
            <a:ext cx="1042415" cy="1755648"/>
          </a:xfrm>
          <a:prstGeom prst="rect">
            <a:avLst/>
          </a:prstGeom>
          <a:solidFill>
            <a:srgbClr val="1E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643616" y="4315968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1000"/>
                </a:solidFill>
                <a:latin typeface="Courier New"/>
              </a:rPr>
              <a:t>Lv.10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43616" y="4608576"/>
            <a:ext cx="9692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9880"/>
                </a:solidFill>
                <a:latin typeface="Courier New"/>
              </a:rPr>
              <a:t>6000 XP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07040" y="4882896"/>
            <a:ext cx="1060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1000"/>
                </a:solidFill>
                <a:latin typeface="Courier New"/>
              </a:rPr>
              <a:t>夏亚定制限定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661904" y="5888736"/>
            <a:ext cx="950976" cy="128016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01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0" y="6437376"/>
            <a:ext cx="12188952" cy="1905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6519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5840"/>
                </a:solidFill>
                <a:latin typeface="Courier New"/>
              </a:rPr>
              <a:t>ZAKU DESKTOP AGENT  //  MISSION CONTROL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17352" y="6437376"/>
            <a:ext cx="1371600" cy="420624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908792" y="65105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E7A30"/>
                </a:solidFill>
                <a:latin typeface="Courier New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8308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59768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46636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8308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59768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46636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05840"/>
                </a:solidFill>
                <a:latin typeface="Courier New"/>
              </a:rPr>
              <a:t>X:0000  Y:0000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8712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05840"/>
                </a:solidFill>
                <a:latin typeface="Courier New"/>
              </a:rPr>
              <a:t>X:1333  Y:0750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09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0A07"/>
                </a:solidFill>
                <a:latin typeface="Courier New"/>
              </a:rPr>
              <a:t>ARMAMENT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E0"/>
                </a:solidFill>
                <a:latin typeface="Arial Black"/>
              </a:rPr>
              <a:t>武器升级系统  ARMAMENT UPGRADE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1115568"/>
            <a:ext cx="5687568" cy="1207008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1115568"/>
            <a:ext cx="64008" cy="120700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" y="1207008"/>
            <a:ext cx="621792" cy="256032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12070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8E0"/>
                </a:solidFill>
                <a:latin typeface="Courier New"/>
              </a:rPr>
              <a:t>Lv.3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1207008"/>
            <a:ext cx="896112" cy="219456"/>
          </a:xfrm>
          <a:prstGeom prst="rect">
            <a:avLst/>
          </a:prstGeom>
          <a:solidFill>
            <a:srgbClr val="161910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207008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9880"/>
                </a:solidFill>
                <a:latin typeface="Courier New"/>
              </a:rPr>
              <a:t>300 XP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117957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B5320"/>
                </a:solidFill>
                <a:latin typeface="Arial Black"/>
              </a:rPr>
              <a:t>尖刺肩盾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153619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Spiked Shoulder Shield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1828800"/>
            <a:ext cx="4645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+X 右肩  ·  军绿装甲盾 + 六棱顶刺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" y="2176272"/>
            <a:ext cx="59436" cy="9144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1383" y="2176272"/>
            <a:ext cx="59436" cy="9144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278" y="2176272"/>
            <a:ext cx="59436" cy="9144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3173" y="2176272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9068" y="2176272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963" y="2176272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0858" y="2176272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6753" y="2176272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82648" y="2176272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58543" y="2176272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27648" y="1115568"/>
            <a:ext cx="5687568" cy="1207008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27648" y="1115568"/>
            <a:ext cx="64008" cy="120700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55664" y="1207008"/>
            <a:ext cx="621792" cy="256032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12070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8E0"/>
                </a:solidFill>
                <a:latin typeface="Courier New"/>
              </a:rPr>
              <a:t>Lv.4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009376" y="1207008"/>
            <a:ext cx="896112" cy="219456"/>
          </a:xfrm>
          <a:prstGeom prst="rect">
            <a:avLst/>
          </a:prstGeom>
          <a:solidFill>
            <a:srgbClr val="161910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09376" y="1207008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9880"/>
                </a:solidFill>
                <a:latin typeface="Courier New"/>
              </a:rPr>
              <a:t>600 XP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117957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B5320"/>
                </a:solidFill>
                <a:latin typeface="Arial Black"/>
              </a:rPr>
              <a:t>120mm 肩炮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42048" y="153619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Shoulder Cannon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42048" y="1828800"/>
            <a:ext cx="4645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-X 左肩  ·  炮座 + 斜伸长管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55664" y="2176272"/>
            <a:ext cx="59436" cy="9144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31559" y="2176272"/>
            <a:ext cx="59436" cy="9144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07454" y="2176272"/>
            <a:ext cx="59436" cy="9144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83349" y="2176272"/>
            <a:ext cx="59436" cy="9144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59244" y="2176272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35139" y="2176272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11034" y="2176272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86929" y="2176272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62824" y="2176272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38719" y="2176272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7472" y="2432304"/>
            <a:ext cx="5687568" cy="1207008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7472" y="2432304"/>
            <a:ext cx="64008" cy="1207008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5488" y="2523744"/>
            <a:ext cx="621792" cy="256032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252374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8E0"/>
                </a:solidFill>
                <a:latin typeface="Courier New"/>
              </a:rPr>
              <a:t>Lv.5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2523744"/>
            <a:ext cx="896112" cy="219456"/>
          </a:xfrm>
          <a:prstGeom prst="rect">
            <a:avLst/>
          </a:prstGeom>
          <a:solidFill>
            <a:srgbClr val="161910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0" y="2523744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9880"/>
                </a:solidFill>
                <a:latin typeface="Courier New"/>
              </a:rPr>
              <a:t>1000 XP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61872" y="2496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500"/>
                </a:solidFill>
                <a:latin typeface="Arial Black"/>
              </a:rPr>
              <a:t>速射炮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61872" y="285292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MMP-80 Bazooka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1872" y="3145536"/>
            <a:ext cx="4645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+X 前臂  ·  斜持大口径炮管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5488" y="3493008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383" y="3493008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7278" y="3493008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03173" y="3493008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79068" y="3493008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54963" y="3493008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30858" y="3493008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6753" y="3493008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82648" y="3493008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58543" y="3493008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27648" y="2432304"/>
            <a:ext cx="5687568" cy="1207008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27648" y="2432304"/>
            <a:ext cx="64008" cy="1207008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55664" y="2523744"/>
            <a:ext cx="621792" cy="256032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55664" y="252374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8E0"/>
                </a:solidFill>
                <a:latin typeface="Courier New"/>
              </a:rPr>
              <a:t>Lv.6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009376" y="2523744"/>
            <a:ext cx="896112" cy="219456"/>
          </a:xfrm>
          <a:prstGeom prst="rect">
            <a:avLst/>
          </a:prstGeom>
          <a:solidFill>
            <a:srgbClr val="161910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009376" y="2523744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9880"/>
                </a:solidFill>
                <a:latin typeface="Courier New"/>
              </a:rPr>
              <a:t>1500 XP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42048" y="2496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500"/>
                </a:solidFill>
                <a:latin typeface="Arial Black"/>
              </a:rPr>
              <a:t>推进舱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42048" y="285292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Rear Thruster Pods ×2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42048" y="3145536"/>
            <a:ext cx="4645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背部双侧  ·  绿舱体 + 橙色发光喷嘴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55664" y="3493008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531559" y="3493008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607454" y="3493008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683349" y="3493008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759244" y="3493008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835139" y="3493008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911034" y="3493008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986929" y="3493008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062824" y="3493008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138719" y="3493008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47472" y="3749040"/>
            <a:ext cx="5687568" cy="1207008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47472" y="3749040"/>
            <a:ext cx="64008" cy="1207008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75488" y="3840480"/>
            <a:ext cx="621792" cy="256032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5488" y="384048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8E0"/>
                </a:solidFill>
                <a:latin typeface="Courier New"/>
              </a:rPr>
              <a:t>Lv.7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3840480"/>
            <a:ext cx="896112" cy="219456"/>
          </a:xfrm>
          <a:prstGeom prst="rect">
            <a:avLst/>
          </a:prstGeom>
          <a:solidFill>
            <a:srgbClr val="161910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29200" y="3840480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9880"/>
                </a:solidFill>
                <a:latin typeface="Courier New"/>
              </a:rPr>
              <a:t>2200 XP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61872" y="381304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500"/>
                </a:solidFill>
                <a:latin typeface="Arial Black"/>
              </a:rPr>
              <a:t>飞行翼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61872" y="416966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Flight Wing Binders ×2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61872" y="4462272"/>
            <a:ext cx="4645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两侧宽幅  ·  倾斜翼片构型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75488" y="4809744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51383" y="4809744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27278" y="4809744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03173" y="4809744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79068" y="4809744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54963" y="4809744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0858" y="4809744"/>
            <a:ext cx="59436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06753" y="4809744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82648" y="4809744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58543" y="4809744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327648" y="3749040"/>
            <a:ext cx="5687568" cy="1207008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327648" y="3749040"/>
            <a:ext cx="64008" cy="1207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455664" y="3840480"/>
            <a:ext cx="62179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55664" y="384048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0A07"/>
                </a:solidFill>
                <a:latin typeface="Courier New"/>
              </a:rPr>
              <a:t>Lv.8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009376" y="3840480"/>
            <a:ext cx="896112" cy="219456"/>
          </a:xfrm>
          <a:prstGeom prst="rect">
            <a:avLst/>
          </a:prstGeom>
          <a:solidFill>
            <a:srgbClr val="161910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009376" y="3840480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9880"/>
                </a:solidFill>
                <a:latin typeface="Courier New"/>
              </a:rPr>
              <a:t>3100 XP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42048" y="381304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Arial Black"/>
              </a:rPr>
              <a:t>指挥天线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242048" y="416966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Commander V-fin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42048" y="4462272"/>
            <a:ext cx="4645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头顶黄色 V 形天线 + 侧感应器阵列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55664" y="4809744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531559" y="4809744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607454" y="4809744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683349" y="4809744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759244" y="4809744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835139" y="4809744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911034" y="4809744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986929" y="4809744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062824" y="4809744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138719" y="4809744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47472" y="5065776"/>
            <a:ext cx="5687568" cy="1207008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47472" y="5065776"/>
            <a:ext cx="64008" cy="1207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5488" y="5157216"/>
            <a:ext cx="621792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75488" y="515721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0A07"/>
                </a:solidFill>
                <a:latin typeface="Courier New"/>
              </a:rPr>
              <a:t>Lv.9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029200" y="5157216"/>
            <a:ext cx="896112" cy="219456"/>
          </a:xfrm>
          <a:prstGeom prst="rect">
            <a:avLst/>
          </a:prstGeom>
          <a:solidFill>
            <a:srgbClr val="161910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029200" y="5157216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9880"/>
                </a:solidFill>
                <a:latin typeface="Courier New"/>
              </a:rPr>
              <a:t>4300 XP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261872" y="512978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Arial Black"/>
              </a:rPr>
              <a:t>全装甲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61872" y="548640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Full Armor Chest Plate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261872" y="5779008"/>
            <a:ext cx="4645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胸前厚重装甲板 + 双肩推进加力包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5488" y="6126480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51383" y="6126480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27278" y="6126480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03173" y="6126480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79068" y="6126480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54963" y="6126480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30858" y="6126480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06753" y="6126480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82648" y="6126480"/>
            <a:ext cx="59436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158543" y="6126480"/>
            <a:ext cx="59436" cy="9144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327648" y="5065776"/>
            <a:ext cx="5687568" cy="1207008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327648" y="5065776"/>
            <a:ext cx="64008" cy="1207008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455664" y="5157216"/>
            <a:ext cx="621792" cy="256032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455664" y="515721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E8E0"/>
                </a:solidFill>
                <a:latin typeface="Courier New"/>
              </a:rPr>
              <a:t>Lv.10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009376" y="5157216"/>
            <a:ext cx="896112" cy="219456"/>
          </a:xfrm>
          <a:prstGeom prst="rect">
            <a:avLst/>
          </a:prstGeom>
          <a:solidFill>
            <a:srgbClr val="161910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009376" y="5157216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9880"/>
                </a:solidFill>
                <a:latin typeface="Courier New"/>
              </a:rPr>
              <a:t>6000 XP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242048" y="512978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1000"/>
                </a:solidFill>
                <a:latin typeface="Arial Black"/>
              </a:rPr>
              <a:t>夏亚定制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242048" y="548640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880"/>
                </a:solidFill>
                <a:latin typeface="Courier New"/>
              </a:rPr>
              <a:t>Char's Custom Nozzle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242048" y="5779008"/>
            <a:ext cx="4645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底部红色高性能喷嘴 + 橙芯光效  [限定]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455664" y="6126480"/>
            <a:ext cx="59436" cy="91440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531559" y="6126480"/>
            <a:ext cx="59436" cy="91440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07454" y="6126480"/>
            <a:ext cx="59436" cy="91440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83349" y="6126480"/>
            <a:ext cx="59436" cy="91440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759244" y="6126480"/>
            <a:ext cx="59436" cy="91440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835139" y="6126480"/>
            <a:ext cx="59436" cy="91440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11034" y="6126480"/>
            <a:ext cx="59436" cy="91440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86929" y="6126480"/>
            <a:ext cx="59436" cy="91440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062824" y="6126480"/>
            <a:ext cx="59436" cy="91440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138719" y="6126480"/>
            <a:ext cx="59436" cy="91440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01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0" y="6437376"/>
            <a:ext cx="12188952" cy="1905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65760" y="6519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5840"/>
                </a:solidFill>
                <a:latin typeface="Courier New"/>
              </a:rPr>
              <a:t>ZAKU DESKTOP AGENT  //  ARMAMENT UPGRADE SYSTEM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817352" y="6437376"/>
            <a:ext cx="1371600" cy="420624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908792" y="65105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E7A30"/>
                </a:solidFill>
                <a:latin typeface="Courier New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8308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59768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46636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8308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59768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46636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05840"/>
                </a:solidFill>
                <a:latin typeface="Courier New"/>
              </a:rPr>
              <a:t>X:0000  Y:0000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8712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05840"/>
                </a:solidFill>
                <a:latin typeface="Courier New"/>
              </a:rPr>
              <a:t>X:1333  Y:0750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09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8E0"/>
                </a:solidFill>
                <a:latin typeface="Courier New"/>
              </a:rP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E0"/>
                </a:solidFill>
                <a:latin typeface="Arial Black"/>
              </a:rPr>
              <a:t>技术架构  TECHNICAL 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042415"/>
            <a:ext cx="11430000" cy="676656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042415"/>
            <a:ext cx="73152" cy="676656"/>
          </a:xfrm>
          <a:prstGeom prst="rect">
            <a:avLst/>
          </a:prstGeom>
          <a:solidFill>
            <a:srgbClr val="92A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1243583"/>
            <a:ext cx="274320" cy="274320"/>
          </a:xfrm>
          <a:prstGeom prst="rect">
            <a:avLst/>
          </a:prstGeom>
          <a:solidFill>
            <a:srgbClr val="161910"/>
          </a:solidFill>
          <a:ln w="12700">
            <a:solidFill>
              <a:srgbClr val="92A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124358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2A242"/>
                </a:solidFill>
                <a:latin typeface="Courier New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11556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2A242"/>
                </a:solidFill>
                <a:latin typeface="Courier New"/>
              </a:rPr>
              <a:t>PRESENTATION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12463" y="1225295"/>
            <a:ext cx="19050" cy="310896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1170431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Electron BrowserWindow · 180×200 透明无边框 · macOS Always-on-top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719071"/>
            <a:ext cx="12700" cy="201168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1792224"/>
            <a:ext cx="11430000" cy="676656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1792224"/>
            <a:ext cx="73152" cy="676656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" y="1993392"/>
            <a:ext cx="274320" cy="274320"/>
          </a:xfrm>
          <a:prstGeom prst="rect">
            <a:avLst/>
          </a:prstGeom>
          <a:solidFill>
            <a:srgbClr val="161910"/>
          </a:solidFill>
          <a:ln w="127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19933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E7A30"/>
                </a:solidFill>
                <a:latin typeface="Courier New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18653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7A30"/>
                </a:solidFill>
                <a:latin typeface="Courier New"/>
              </a:rPr>
              <a:t>RENDER ENGINE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12463" y="1975104"/>
            <a:ext cx="19050" cy="310896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1920240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Three.js r158 · GLTFLoader · SD Zaku II GLB · MeshStandardMaterial · AnimationMixer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2468880"/>
            <a:ext cx="12700" cy="201168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2542032"/>
            <a:ext cx="11430000" cy="676656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2542032"/>
            <a:ext cx="73152" cy="676656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0352" y="2743200"/>
            <a:ext cx="274320" cy="274320"/>
          </a:xfrm>
          <a:prstGeom prst="rect">
            <a:avLst/>
          </a:prstGeom>
          <a:solidFill>
            <a:srgbClr val="161910"/>
          </a:solidFill>
          <a:ln w="1270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5500"/>
                </a:solidFill>
                <a:latin typeface="Courier New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26151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500"/>
                </a:solidFill>
                <a:latin typeface="Courier New"/>
              </a:rPr>
              <a:t>IPC BRIDGE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12463" y="2724912"/>
            <a:ext cx="19050" cy="310896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0" y="2670048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Electron contextBridge · preload.js · ipcRenderer ↔ ipcMain · 安全沙箱隔离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3218688"/>
            <a:ext cx="12700" cy="201168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3291840"/>
            <a:ext cx="11430000" cy="676656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3291840"/>
            <a:ext cx="73152" cy="676656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0352" y="3493008"/>
            <a:ext cx="274320" cy="274320"/>
          </a:xfrm>
          <a:prstGeom prst="rect">
            <a:avLst/>
          </a:prstGeom>
          <a:solidFill>
            <a:srgbClr val="161910"/>
          </a:solidFill>
          <a:ln w="1270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34930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5500"/>
                </a:solidFill>
                <a:latin typeface="Courier New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33649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500"/>
                </a:solidFill>
                <a:latin typeface="Courier New"/>
              </a:rPr>
              <a:t>MAIN PROCESS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12463" y="3474720"/>
            <a:ext cx="19050" cy="310896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0" y="3419856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Node.js · electron-store 持久化 · AI Provider SDK · 文件系统操作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968496"/>
            <a:ext cx="12700" cy="201168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041648"/>
            <a:ext cx="11430000" cy="676656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4041648"/>
            <a:ext cx="73152" cy="676656"/>
          </a:xfrm>
          <a:prstGeom prst="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30352" y="4242816"/>
            <a:ext cx="274320" cy="274320"/>
          </a:xfrm>
          <a:prstGeom prst="rect">
            <a:avLst/>
          </a:prstGeom>
          <a:solidFill>
            <a:srgbClr val="161910"/>
          </a:solidFill>
          <a:ln w="12700">
            <a:solidFill>
              <a:srgbClr val="00C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" y="42428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C77"/>
                </a:solidFill>
                <a:latin typeface="Courier New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4114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C77"/>
                </a:solidFill>
                <a:latin typeface="Courier New"/>
              </a:rPr>
              <a:t>AI SERVICES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12463" y="4224528"/>
            <a:ext cx="19050" cy="310896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0" y="4169664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OpenAI API · Anthropic Claude API · Google Gemini API · Provider 热切换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4718304"/>
            <a:ext cx="12700" cy="201168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60" y="4791456"/>
            <a:ext cx="11430000" cy="676656"/>
          </a:xfrm>
          <a:prstGeom prst="rect">
            <a:avLst/>
          </a:prstGeom>
          <a:solidFill>
            <a:srgbClr val="1E2216"/>
          </a:solidFill>
          <a:ln w="12700">
            <a:solidFill>
              <a:srgbClr val="3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5760" y="4791456"/>
            <a:ext cx="73152" cy="676656"/>
          </a:xfrm>
          <a:prstGeom prst="rect">
            <a:avLst/>
          </a:prstGeom>
          <a:solidFill>
            <a:srgbClr val="909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30352" y="4992624"/>
            <a:ext cx="274320" cy="274320"/>
          </a:xfrm>
          <a:prstGeom prst="rect">
            <a:avLst/>
          </a:prstGeom>
          <a:solidFill>
            <a:srgbClr val="161910"/>
          </a:solidFill>
          <a:ln w="12700">
            <a:solidFill>
              <a:srgbClr val="909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" y="4992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09880"/>
                </a:solidFill>
                <a:latin typeface="Courier New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" y="48646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9880"/>
                </a:solidFill>
                <a:latin typeface="Courier New"/>
              </a:rPr>
              <a:t>STORAGE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12463" y="4974336"/>
            <a:ext cx="19050" cy="310896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0" y="4919472"/>
            <a:ext cx="7863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0"/>
                </a:solidFill>
                <a:latin typeface="Courier New"/>
              </a:rPr>
              <a:t>electron-store JSON · 宠物状态 · XP/等级 · 任务列表 · API Keys · 工作流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01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0" y="6437376"/>
            <a:ext cx="12188952" cy="1905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519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5840"/>
                </a:solidFill>
                <a:latin typeface="Courier New"/>
              </a:rPr>
              <a:t>ZAKU DESKTOP AGENT  //  TECHNICAL ARCHITECTURE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817352" y="6437376"/>
            <a:ext cx="1371600" cy="420624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908792" y="65105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E7A30"/>
                </a:solidFill>
                <a:latin typeface="Courier New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8308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59768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46636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8308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59768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46636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05840"/>
                </a:solidFill>
                <a:latin typeface="Courier New"/>
              </a:rPr>
              <a:t>X:0000  Y:0000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8712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05840"/>
                </a:solidFill>
                <a:latin typeface="Courier New"/>
              </a:rPr>
              <a:t>X:1333  Y:0750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932688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932688"/>
            <a:ext cx="12188952" cy="2540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09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0A07"/>
                </a:solidFill>
                <a:latin typeface="Courier New"/>
              </a:rPr>
              <a:t>EMOTION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E0"/>
                </a:solidFill>
                <a:latin typeface="Arial Black"/>
              </a:rPr>
              <a:t>机体情绪系统  EMOTION &amp; ANIMATION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143000"/>
            <a:ext cx="2761488" cy="5193792"/>
          </a:xfrm>
          <a:prstGeom prst="rect">
            <a:avLst/>
          </a:prstGeom>
          <a:solidFill>
            <a:srgbClr val="1E2216"/>
          </a:solidFill>
          <a:ln w="22860">
            <a:solidFill>
              <a:srgbClr val="4B5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143000"/>
            <a:ext cx="2761488" cy="73152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325880"/>
            <a:ext cx="2578608" cy="1389888"/>
          </a:xfrm>
          <a:prstGeom prst="rect">
            <a:avLst/>
          </a:prstGeom>
          <a:solidFill>
            <a:srgbClr val="080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" y="1399032"/>
            <a:ext cx="109728" cy="10972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545336"/>
            <a:ext cx="27614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B5320"/>
                </a:solidFill>
                <a:latin typeface="Courier New"/>
              </a:rPr>
              <a:t>[ ◎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843784"/>
            <a:ext cx="2761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B5320"/>
                </a:solidFill>
                <a:latin typeface="Arial Black"/>
              </a:rPr>
              <a:t>HAPPY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264408"/>
            <a:ext cx="2761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8E0"/>
                </a:solidFill>
                <a:latin typeface="Courier New"/>
              </a:rPr>
              <a:t>开心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66744"/>
            <a:ext cx="2395728" cy="12700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794760"/>
            <a:ext cx="250545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9880"/>
                </a:solidFill>
                <a:latin typeface="Courier New"/>
              </a:rPr>
              <a:t>默认待机状态
轻微摇摆呼吸感
眼部扫描光效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34456"/>
            <a:ext cx="2578608" cy="329184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934456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9880"/>
                </a:solidFill>
                <a:latin typeface="Courier New"/>
              </a:rPr>
              <a:t>TRIGGER: IDLE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0128" y="1143000"/>
            <a:ext cx="2761488" cy="5193792"/>
          </a:xfrm>
          <a:prstGeom prst="rect">
            <a:avLst/>
          </a:prstGeom>
          <a:solidFill>
            <a:srgbClr val="1E2216"/>
          </a:solidFill>
          <a:ln w="2286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0128" y="1143000"/>
            <a:ext cx="2761488" cy="73152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01568" y="1325880"/>
            <a:ext cx="2578608" cy="1389888"/>
          </a:xfrm>
          <a:prstGeom prst="rect">
            <a:avLst/>
          </a:prstGeom>
          <a:solidFill>
            <a:srgbClr val="080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4720" y="1399032"/>
            <a:ext cx="109728" cy="109728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0128" y="1545336"/>
            <a:ext cx="27614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5500"/>
                </a:solidFill>
                <a:latin typeface="Courier New"/>
              </a:rPr>
              <a:t>[ !!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2843784"/>
            <a:ext cx="2761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5500"/>
                </a:solidFill>
                <a:latin typeface="Arial Black"/>
              </a:rPr>
              <a:t>EXCITED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0128" y="3264408"/>
            <a:ext cx="2761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8E0"/>
                </a:solidFill>
                <a:latin typeface="Courier New"/>
              </a:rPr>
              <a:t>兴奋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93008" y="3666744"/>
            <a:ext cx="2395728" cy="12700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3794760"/>
            <a:ext cx="250545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9880"/>
                </a:solidFill>
                <a:latin typeface="Courier New"/>
              </a:rPr>
              <a:t>完成任务触发
持续跳跃动画
4 秒后自动平复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01568" y="5934456"/>
            <a:ext cx="2578608" cy="329184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1568" y="5934456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9880"/>
                </a:solidFill>
                <a:latin typeface="Courier New"/>
              </a:rPr>
              <a:t>TRIGGER: TASK_COMPLETE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4496" y="1143000"/>
            <a:ext cx="2761488" cy="5193792"/>
          </a:xfrm>
          <a:prstGeom prst="rect">
            <a:avLst/>
          </a:prstGeom>
          <a:solidFill>
            <a:srgbClr val="1E2216"/>
          </a:solidFill>
          <a:ln w="22860">
            <a:solidFill>
              <a:srgbClr val="909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54496" y="1143000"/>
            <a:ext cx="2761488" cy="73152"/>
          </a:xfrm>
          <a:prstGeom prst="rect">
            <a:avLst/>
          </a:prstGeom>
          <a:solidFill>
            <a:srgbClr val="909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45936" y="1325880"/>
            <a:ext cx="2578608" cy="1389888"/>
          </a:xfrm>
          <a:prstGeom prst="rect">
            <a:avLst/>
          </a:prstGeom>
          <a:solidFill>
            <a:srgbClr val="080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19088" y="1399032"/>
            <a:ext cx="109728" cy="109728"/>
          </a:xfrm>
          <a:prstGeom prst="rect">
            <a:avLst/>
          </a:prstGeom>
          <a:solidFill>
            <a:srgbClr val="909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54496" y="1545336"/>
            <a:ext cx="27614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909880"/>
                </a:solidFill>
                <a:latin typeface="Courier New"/>
              </a:rPr>
              <a:t>[ Zzz 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6" y="2843784"/>
            <a:ext cx="2761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09880"/>
                </a:solidFill>
                <a:latin typeface="Arial Black"/>
              </a:rPr>
              <a:t>SLEEPING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4496" y="3264408"/>
            <a:ext cx="2761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8E0"/>
                </a:solidFill>
                <a:latin typeface="Courier New"/>
              </a:rPr>
              <a:t>休眠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37376" y="3666744"/>
            <a:ext cx="2395728" cy="12700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3794760"/>
            <a:ext cx="250545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9880"/>
                </a:solidFill>
                <a:latin typeface="Courier New"/>
              </a:rPr>
              <a:t>长时间无操作
缓慢呼吸下沉
浮动休眠图标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45936" y="5934456"/>
            <a:ext cx="2578608" cy="329184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45936" y="5934456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9880"/>
                </a:solidFill>
                <a:latin typeface="Courier New"/>
              </a:rPr>
              <a:t>TRIGGER: IDLE_TIMEOUT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98864" y="1143000"/>
            <a:ext cx="2761488" cy="5193792"/>
          </a:xfrm>
          <a:prstGeom prst="rect">
            <a:avLst/>
          </a:prstGeom>
          <a:solidFill>
            <a:srgbClr val="1E2216"/>
          </a:solidFill>
          <a:ln w="22860">
            <a:solidFill>
              <a:srgbClr val="8B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98864" y="1143000"/>
            <a:ext cx="2761488" cy="73152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90304" y="1325880"/>
            <a:ext cx="2578608" cy="1389888"/>
          </a:xfrm>
          <a:prstGeom prst="rect">
            <a:avLst/>
          </a:prstGeom>
          <a:solidFill>
            <a:srgbClr val="080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63456" y="1399032"/>
            <a:ext cx="109728" cy="109728"/>
          </a:xfrm>
          <a:prstGeom prst="rect">
            <a:avLst/>
          </a:prstGeom>
          <a:solidFill>
            <a:srgbClr val="8B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98864" y="1545336"/>
            <a:ext cx="27614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B1000"/>
                </a:solidFill>
                <a:latin typeface="Courier New"/>
              </a:rPr>
              <a:t>[ ◈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98864" y="2843784"/>
            <a:ext cx="2761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B1000"/>
                </a:solidFill>
                <a:latin typeface="Arial Black"/>
              </a:rPr>
              <a:t>BATTLE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98864" y="3264408"/>
            <a:ext cx="27614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E8E0"/>
                </a:solidFill>
                <a:latin typeface="Courier New"/>
              </a:rPr>
              <a:t>战斗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81744" y="3666744"/>
            <a:ext cx="2395728" cy="12700"/>
          </a:xfrm>
          <a:prstGeom prst="rect">
            <a:avLst/>
          </a:prstGeom>
          <a:solidFill>
            <a:srgbClr val="3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63456" y="3794760"/>
            <a:ext cx="250545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9880"/>
                </a:solidFill>
                <a:latin typeface="Courier New"/>
              </a:rPr>
              <a:t>AI 对话时激活
眼部红光加强
机体前倾 3° 姿态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90304" y="5934456"/>
            <a:ext cx="2578608" cy="329184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90304" y="5934456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09880"/>
                </a:solidFill>
                <a:latin typeface="Courier New"/>
              </a:rPr>
              <a:t>TRIGGER: CHAT_OPEN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01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437376"/>
            <a:ext cx="12188952" cy="1905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6519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5840"/>
                </a:solidFill>
                <a:latin typeface="Courier New"/>
              </a:rPr>
              <a:t>ZAKU DESKTOP AGENT  //  EMOTION &amp; ANIMATION SYSTEM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17352" y="6437376"/>
            <a:ext cx="1371600" cy="420624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08792" y="65105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E7A30"/>
                </a:solidFill>
                <a:latin typeface="Courier New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0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115568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402336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7360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50592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63824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77056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0288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16752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9984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43216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82912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96144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09376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722608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435840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149072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862304" y="0"/>
            <a:ext cx="256032" cy="6858000"/>
          </a:xfrm>
          <a:prstGeom prst="rect">
            <a:avLst/>
          </a:prstGeom>
          <a:solidFill>
            <a:srgbClr val="12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575536" y="0"/>
            <a:ext cx="256032" cy="6858000"/>
          </a:xfrm>
          <a:prstGeom prst="rect">
            <a:avLst/>
          </a:prstGeom>
          <a:solidFill>
            <a:srgbClr val="0F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16459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181C10"/>
                </a:solidFill>
                <a:latin typeface="Arial Black"/>
              </a:rPr>
              <a:t>DEPLOY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804672"/>
            <a:ext cx="10515600" cy="5074920"/>
          </a:xfrm>
          <a:prstGeom prst="rect">
            <a:avLst/>
          </a:prstGeom>
          <a:solidFill>
            <a:srgbClr val="161910"/>
          </a:solidFill>
          <a:ln w="317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804672"/>
            <a:ext cx="10515600" cy="91440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788152"/>
            <a:ext cx="10515600" cy="9144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8308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859768" y="91440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946636" y="178308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8308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859768" y="6528816"/>
            <a:ext cx="237744" cy="237744"/>
          </a:xfrm>
          <a:prstGeom prst="rect">
            <a:avLst/>
          </a:prstGeom>
          <a:noFill/>
          <a:ln w="25400">
            <a:solidFill>
              <a:srgbClr val="6E7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946636" y="6615684"/>
            <a:ext cx="64008" cy="64008"/>
          </a:xfrm>
          <a:prstGeom prst="rect">
            <a:avLst/>
          </a:prstGeom>
          <a:solidFill>
            <a:srgbClr val="6E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05840"/>
                </a:solidFill>
                <a:latin typeface="Courier New"/>
              </a:rPr>
              <a:t>X:0000  Y:0000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2" y="663854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05840"/>
                </a:solidFill>
                <a:latin typeface="Courier New"/>
              </a:rPr>
              <a:t>X:1333  Y:0750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78992" y="941832"/>
            <a:ext cx="2103120" cy="256032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70432" y="9799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0A07"/>
                </a:solidFill>
                <a:latin typeface="Courier New"/>
              </a:rPr>
              <a:t>DEPLOY ORDER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05672" y="941832"/>
            <a:ext cx="2286000" cy="256032"/>
          </a:xfrm>
          <a:prstGeom prst="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97112" y="9799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40603"/>
                </a:solidFill>
                <a:latin typeface="Courier New"/>
              </a:rPr>
              <a:t>STATUS: READY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1335024"/>
            <a:ext cx="8961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8E8E0"/>
                </a:solidFill>
                <a:latin typeface="Arial Black"/>
              </a:rPr>
              <a:t>准备好部署了吗？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2286000"/>
            <a:ext cx="8961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9880"/>
                </a:solidFill>
                <a:latin typeface="Courier New"/>
              </a:rPr>
              <a:t>Zaku Desktop Agent 现已可部署于任意 macOS 设备。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63040" y="2816352"/>
            <a:ext cx="6583680" cy="475488"/>
          </a:xfrm>
          <a:prstGeom prst="rect">
            <a:avLst/>
          </a:prstGeom>
          <a:solidFill>
            <a:srgbClr val="080A07"/>
          </a:solidFill>
          <a:ln w="12700">
            <a:solidFill>
              <a:srgbClr val="00C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45920" y="283464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C77"/>
                </a:solidFill>
                <a:latin typeface="Courier New"/>
              </a:rPr>
              <a:t>&gt; npm install  →  npm start  →  机体上线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63040" y="3493008"/>
            <a:ext cx="1965960" cy="530352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00200" y="3547872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A07"/>
                </a:solidFill>
                <a:latin typeface="Arial Black"/>
              </a:rPr>
              <a:t>▶  LAUNCH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0" y="3493008"/>
            <a:ext cx="1965960" cy="530352"/>
          </a:xfrm>
          <a:prstGeom prst="rect">
            <a:avLst/>
          </a:prstGeom>
          <a:solidFill>
            <a:srgbClr val="FF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94760" y="3547872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A07"/>
                </a:solidFill>
                <a:latin typeface="Arial Black"/>
              </a:rPr>
              <a:t>◈  CONFIGURE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0" y="3493008"/>
            <a:ext cx="1965960" cy="5303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3547872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0A07"/>
                </a:solidFill>
                <a:latin typeface="Arial Black"/>
              </a:rPr>
              <a:t>★  UPGRADE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63040" y="425196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020"/>
                </a:solidFill>
                <a:latin typeface="Courier New"/>
              </a:rPr>
              <a:t>ELECTRON 28  ·  THREE.JS r158  ·  NODE.JS  ·  macOS  ·  AI MULTI-PROVIDER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63040" y="4663440"/>
            <a:ext cx="8961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7A30"/>
                </a:solidFill>
                <a:latin typeface="Courier New"/>
              </a:rPr>
              <a:t>MS-06F ZAKU II  —  FOR THE PRINCIPALITY OF ZEON  —  OPERATION: DESKTOP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101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6437376"/>
            <a:ext cx="12188952" cy="19050"/>
          </a:xfrm>
          <a:prstGeom prst="rect">
            <a:avLst/>
          </a:prstGeom>
          <a:solidFill>
            <a:srgbClr val="262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51967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5840"/>
                </a:solidFill>
                <a:latin typeface="Courier New"/>
              </a:rPr>
              <a:t>ZAKU DESKTOP AGENT  //  DEPLOY READY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817352" y="6437376"/>
            <a:ext cx="1371600" cy="420624"/>
          </a:xfrm>
          <a:prstGeom prst="rect">
            <a:avLst/>
          </a:prstGeom>
          <a:solidFill>
            <a:srgbClr val="161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908792" y="65105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E7A30"/>
                </a:solidFill>
                <a:latin typeface="Courier New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